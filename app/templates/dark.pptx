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set purpose and activate prior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slide concise and put the extra explanation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answer first, then reveal the teacher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an exit-ticket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0" y="0"/>
            <a:ext cx="5422392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06640" y="658368"/>
            <a:ext cx="4160520" cy="553212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658368"/>
            <a:ext cx="100584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708660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NIGHT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566928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4200" b="1">
                <a:solidFill>
                  <a:srgbClr val="FAFAFA"/>
                </a:solidFill>
                <a:latin typeface="Aptos"/>
              </a:defRPr>
            </a:pPr>
            <a:r>
              <a:t>Night Class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16352"/>
            <a:ext cx="5120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D4D4D8"/>
                </a:solidFill>
                <a:latin typeface="Aptos"/>
              </a:defRPr>
            </a:pPr>
            <a:r>
              <a:t>Grade 10 | Template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29000"/>
            <a:ext cx="539496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D4D4D8"/>
                </a:solidFill>
                <a:latin typeface="Aptos"/>
              </a:defRPr>
            </a:pPr>
            <a:r>
              <a:t>A classroom-ready deck with guided explanation, practice, and checks for understanding.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1234440"/>
            <a:ext cx="3429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Aptos"/>
              </a:defRPr>
            </a:pPr>
            <a:r>
              <a:t>Learning Targets</a:t>
            </a:r>
          </a:p>
        </p:txBody>
      </p:sp>
      <p:sp>
        <p:nvSpPr>
          <p:cNvPr id="11" name="Oval 10"/>
          <p:cNvSpPr/>
          <p:nvPr/>
        </p:nvSpPr>
        <p:spPr>
          <a:xfrm>
            <a:off x="7790688" y="1792224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37360"/>
            <a:ext cx="31546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Preview the title, concept, practice, and summary layouts.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5074920"/>
            <a:ext cx="30175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>
                <a:solidFill>
                  <a:srgbClr val="FAFAFA"/>
                </a:solidFill>
                <a:latin typeface="Aptos"/>
              </a:defRPr>
            </a:pPr>
            <a:r>
              <a:t>4 lesson slides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468112"/>
            <a:ext cx="30632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D4D4D8"/>
                </a:solidFill>
                <a:latin typeface="Aptos"/>
              </a:defRPr>
            </a:pPr>
            <a:r>
              <a:t>Built for teaching, discussion, and revision.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D4D4D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Aptos"/>
              </a:defRPr>
            </a:pPr>
            <a:r>
              <a:t>Start With A Strong Hook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17320"/>
            <a:ext cx="5074920" cy="4919472"/>
          </a:xfrm>
          <a:prstGeom prst="rect">
            <a:avLst/>
          </a:prstGeom>
          <a:ln w="12700">
            <a:solidFill>
              <a:srgbClr val="3F3F46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03504" y="1682496"/>
            <a:ext cx="534924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400" b="1">
                <a:solidFill>
                  <a:srgbClr val="FAFAFA"/>
                </a:solidFill>
                <a:latin typeface="Aptos"/>
              </a:defRPr>
            </a:pPr>
            <a:r>
              <a:t>Open with one curiosity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127248"/>
            <a:ext cx="51206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Aptos"/>
              </a:defRPr>
            </a:pPr>
            <a:r>
              <a:t>Key Points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8503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Name the core idea in simple language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4223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873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Show why it matters beyond the textbook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59943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44568"/>
            <a:ext cx="48463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Preview what students will be able to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D4D4D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Aptos"/>
              </a:defRPr>
            </a:pPr>
            <a:r>
              <a:t>Make The Core Idea Visible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4023360" cy="3794760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3310128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FAFAFA"/>
                </a:solidFill>
                <a:latin typeface="Aptos"/>
              </a:defRPr>
            </a:pPr>
            <a:r>
              <a:t>Teach one key idea per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22191"/>
            <a:ext cx="32918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D4D4D8"/>
                </a:solidFill>
                <a:latin typeface="Aptos"/>
              </a:defRPr>
            </a:pPr>
            <a:r>
              <a:t>Explain a concept with a visual anchor.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4864608"/>
            <a:ext cx="1115568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0" y="1847088"/>
            <a:ext cx="6629400" cy="3794760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221992"/>
            <a:ext cx="56235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Aptos"/>
              </a:defRPr>
            </a:pPr>
            <a:r>
              <a:t>What students should notice</a:t>
            </a:r>
          </a:p>
        </p:txBody>
      </p:sp>
      <p:sp>
        <p:nvSpPr>
          <p:cNvPr id="14" name="Oval 13"/>
          <p:cNvSpPr/>
          <p:nvPr/>
        </p:nvSpPr>
        <p:spPr>
          <a:xfrm>
            <a:off x="5376672" y="27797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32704" y="27249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Pair the idea with an example or analogy</a:t>
            </a:r>
          </a:p>
        </p:txBody>
      </p:sp>
      <p:sp>
        <p:nvSpPr>
          <p:cNvPr id="16" name="Oval 15"/>
          <p:cNvSpPr/>
          <p:nvPr/>
        </p:nvSpPr>
        <p:spPr>
          <a:xfrm>
            <a:off x="5376672" y="32369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32704" y="31821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Call out one misconception early</a:t>
            </a:r>
          </a:p>
        </p:txBody>
      </p:sp>
      <p:sp>
        <p:nvSpPr>
          <p:cNvPr id="18" name="Oval 17"/>
          <p:cNvSpPr/>
          <p:nvPr/>
        </p:nvSpPr>
        <p:spPr>
          <a:xfrm>
            <a:off x="5376672" y="3694176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32704" y="3639312"/>
            <a:ext cx="53492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End with a quick check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D4D4D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800" b="1">
                <a:solidFill>
                  <a:srgbClr val="FAFAFA"/>
                </a:solidFill>
                <a:latin typeface="Aptos"/>
              </a:defRPr>
            </a:pPr>
            <a:r>
              <a:t>Practice With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64208"/>
            <a:ext cx="10972800" cy="1417320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56816"/>
            <a:ext cx="101955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300" b="1">
                <a:solidFill>
                  <a:srgbClr val="FAFAFA"/>
                </a:solidFill>
                <a:latin typeface="Aptos"/>
              </a:defRPr>
            </a:pPr>
            <a:r>
              <a:t>Question: Which option best explains the idea?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01568"/>
            <a:ext cx="5193792" cy="2651760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44348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Aptos"/>
              </a:defRPr>
            </a:pPr>
            <a:r>
              <a:t>Work Time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43251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702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B) A cause-and-effect relationship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47823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274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C) An unrelated example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52395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84648"/>
            <a:ext cx="4160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D) A memorized definition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3401568"/>
            <a:ext cx="5468112" cy="2651760"/>
          </a:xfrm>
          <a:prstGeom prst="roundRect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76732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Aptos"/>
              </a:defRPr>
            </a:pPr>
            <a:r>
              <a:t>Teacher Key</a:t>
            </a:r>
          </a:p>
        </p:txBody>
      </p:sp>
      <p:sp>
        <p:nvSpPr>
          <p:cNvPr id="20" name="Oval 19"/>
          <p:cNvSpPr/>
          <p:nvPr/>
        </p:nvSpPr>
        <p:spPr>
          <a:xfrm>
            <a:off x="6437376" y="43251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2702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Answer: B</a:t>
            </a:r>
          </a:p>
        </p:txBody>
      </p:sp>
      <p:sp>
        <p:nvSpPr>
          <p:cNvPr id="22" name="Oval 21"/>
          <p:cNvSpPr/>
          <p:nvPr/>
        </p:nvSpPr>
        <p:spPr>
          <a:xfrm>
            <a:off x="6437376" y="478231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727448"/>
            <a:ext cx="43891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Explanation: Students should identify the relationship, not just recall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47472"/>
            <a:ext cx="100584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97764"/>
            <a:ext cx="822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4747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>
                <a:solidFill>
                  <a:srgbClr val="D4D4D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809244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200" b="1">
                <a:solidFill>
                  <a:srgbClr val="FAFAFA"/>
                </a:solidFill>
                <a:latin typeface="Aptos"/>
              </a:defRPr>
            </a:pPr>
            <a:r>
              <a:t>Close With Transfer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768096"/>
            <a:ext cx="1508760" cy="310896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818388"/>
            <a:ext cx="13258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364992" cy="4069080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157984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Aptos"/>
              </a:defRPr>
            </a:pPr>
          </a:p>
        </p:txBody>
      </p:sp>
      <p:sp>
        <p:nvSpPr>
          <p:cNvPr id="12" name="Oval 11"/>
          <p:cNvSpPr/>
          <p:nvPr/>
        </p:nvSpPr>
        <p:spPr>
          <a:xfrm>
            <a:off x="877824" y="3154680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Students can define the key idea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611880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5570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Students can apply it to a new scenario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847088"/>
            <a:ext cx="3364992" cy="4069080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54296" y="2157984"/>
            <a:ext cx="1280160" cy="310896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45736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Aptos"/>
              </a:defRPr>
            </a:pPr>
          </a:p>
        </p:txBody>
      </p:sp>
      <p:sp>
        <p:nvSpPr>
          <p:cNvPr id="20" name="Oval 19"/>
          <p:cNvSpPr/>
          <p:nvPr/>
        </p:nvSpPr>
        <p:spPr>
          <a:xfrm>
            <a:off x="4654296" y="3154680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Students can explain it with an example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1847088"/>
            <a:ext cx="3364992" cy="4069080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0767" y="2157984"/>
            <a:ext cx="12801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7" y="220827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APPLY 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2596896"/>
            <a:ext cx="27432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Aptos"/>
              </a:defRPr>
            </a:pPr>
          </a:p>
        </p:txBody>
      </p:sp>
      <p:sp>
        <p:nvSpPr>
          <p:cNvPr id="26" name="Oval 25"/>
          <p:cNvSpPr/>
          <p:nvPr/>
        </p:nvSpPr>
        <p:spPr>
          <a:xfrm>
            <a:off x="8430767" y="3154680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799" y="3099816"/>
            <a:ext cx="24688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Students can avoid the common misconception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713232"/>
            <a:ext cx="10771632" cy="5440680"/>
          </a:xfrm>
          <a:prstGeom prst="roundRect">
            <a:avLst/>
          </a:prstGeom>
          <a:solidFill>
            <a:srgbClr val="27272A"/>
          </a:solidFill>
          <a:ln w="12700"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1325880"/>
            <a:ext cx="576072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800" b="1">
                <a:solidFill>
                  <a:srgbClr val="FAFAFA"/>
                </a:solidFill>
                <a:latin typeface="Aptos"/>
              </a:defRPr>
            </a:pPr>
            <a:r>
              <a:t>Ready for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121408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>
                <a:solidFill>
                  <a:srgbClr val="D4D4D8"/>
                </a:solidFill>
                <a:latin typeface="Aptos"/>
              </a:defRPr>
            </a:pPr>
            <a:r>
              <a:t>Use the notes, activities, and visual prompts to adapt the lesson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35808"/>
            <a:ext cx="4937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1">
                <a:solidFill>
                  <a:srgbClr val="FAFAFA"/>
                </a:solidFill>
                <a:latin typeface="Aptos"/>
              </a:defRPr>
            </a:pPr>
            <a:r>
              <a:t>Quick Finish</a:t>
            </a:r>
          </a:p>
        </p:txBody>
      </p:sp>
      <p:sp>
        <p:nvSpPr>
          <p:cNvPr id="6" name="Oval 5"/>
          <p:cNvSpPr/>
          <p:nvPr/>
        </p:nvSpPr>
        <p:spPr>
          <a:xfrm>
            <a:off x="1143000" y="359359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9032" y="35387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Ask one retrieval question</a:t>
            </a:r>
          </a:p>
        </p:txBody>
      </p:sp>
      <p:sp>
        <p:nvSpPr>
          <p:cNvPr id="8" name="Oval 7"/>
          <p:cNvSpPr/>
          <p:nvPr/>
        </p:nvSpPr>
        <p:spPr>
          <a:xfrm>
            <a:off x="1143000" y="405079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032" y="39959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Let students explain one visual</a:t>
            </a:r>
          </a:p>
        </p:txBody>
      </p:sp>
      <p:sp>
        <p:nvSpPr>
          <p:cNvPr id="10" name="Oval 9"/>
          <p:cNvSpPr/>
          <p:nvPr/>
        </p:nvSpPr>
        <p:spPr>
          <a:xfrm>
            <a:off x="1143000" y="4507992"/>
            <a:ext cx="118872" cy="11887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4453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50" b="0">
                <a:solidFill>
                  <a:srgbClr val="D4D4D8"/>
                </a:solidFill>
                <a:latin typeface="Aptos"/>
              </a:defRPr>
            </a:pPr>
            <a:r>
              <a:t>Collect one exit-ticket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08176"/>
            <a:ext cx="2377440" cy="23774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847088"/>
            <a:ext cx="182880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816352"/>
            <a:ext cx="1828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slides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