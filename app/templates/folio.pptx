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set purpose and activate prior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slide concise and put the extra explanation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students answer first, then reveal the teacher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as an exit-ticket prompt.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766560" y="0"/>
            <a:ext cx="5422392" cy="68580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06640" y="658368"/>
            <a:ext cx="4160520" cy="5532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658368"/>
            <a:ext cx="1005840" cy="310896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708660"/>
            <a:ext cx="822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325880"/>
            <a:ext cx="5669280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4200" b="1">
                <a:solidFill>
                  <a:srgbClr val="3F162C"/>
                </a:solidFill>
                <a:latin typeface="Aptos"/>
              </a:defRPr>
            </a:pPr>
            <a:r>
              <a:t>Folio 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816352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0">
                <a:solidFill>
                  <a:srgbClr val="644352"/>
                </a:solidFill>
                <a:latin typeface="Aptos"/>
              </a:defRPr>
            </a:pPr>
            <a:r>
              <a:t>Grade 10 | Template Preview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3429000"/>
            <a:ext cx="53949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0">
                <a:solidFill>
                  <a:srgbClr val="644352"/>
                </a:solidFill>
                <a:latin typeface="Aptos"/>
              </a:defRPr>
            </a:pPr>
            <a:r>
              <a:t>A classroom-ready deck with guided explanation, practice, and checks for understanding.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90688" y="1234440"/>
            <a:ext cx="34290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3F162C"/>
                </a:solidFill>
                <a:latin typeface="Aptos"/>
              </a:defRPr>
            </a:pPr>
            <a:r>
              <a:t>Learning Targets</a:t>
            </a:r>
          </a:p>
        </p:txBody>
      </p:sp>
      <p:sp>
        <p:nvSpPr>
          <p:cNvPr id="11" name="Oval 10"/>
          <p:cNvSpPr/>
          <p:nvPr/>
        </p:nvSpPr>
        <p:spPr>
          <a:xfrm>
            <a:off x="7790688" y="1792224"/>
            <a:ext cx="118872" cy="118872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1737360"/>
            <a:ext cx="31546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644352"/>
                </a:solidFill>
                <a:latin typeface="Aptos"/>
              </a:defRPr>
            </a:pPr>
            <a:r>
              <a:t>Preview the title, concept, practice, and summary layouts.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5074920"/>
            <a:ext cx="30175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1">
                <a:solidFill>
                  <a:srgbClr val="3F162C"/>
                </a:solidFill>
                <a:latin typeface="Aptos"/>
              </a:defRPr>
            </a:pPr>
            <a:r>
              <a:t>4 lesson slides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5468112"/>
            <a:ext cx="30632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>
                <a:solidFill>
                  <a:srgbClr val="644352"/>
                </a:solidFill>
                <a:latin typeface="Aptos"/>
              </a:defRPr>
            </a:pPr>
            <a:r>
              <a:t>Built for teaching, discussion, and revision.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47472"/>
            <a:ext cx="1005840" cy="310896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97764"/>
            <a:ext cx="822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474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>
                <a:solidFill>
                  <a:srgbClr val="644352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809244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>
                <a:solidFill>
                  <a:srgbClr val="3F162C"/>
                </a:solidFill>
                <a:latin typeface="Aptos"/>
              </a:defRPr>
            </a:pPr>
            <a:r>
              <a:t>Start With A Strong Hook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6840" y="768096"/>
            <a:ext cx="1508760" cy="310896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98280" y="818388"/>
            <a:ext cx="13258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REMEMBER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417320"/>
            <a:ext cx="5074920" cy="4919472"/>
          </a:xfrm>
          <a:prstGeom prst="rect">
            <a:avLst/>
          </a:prstGeom>
          <a:ln w="12700">
            <a:solidFill>
              <a:srgbClr val="FFE4E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03504" y="1682496"/>
            <a:ext cx="5349240" cy="1143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400" b="1">
                <a:solidFill>
                  <a:srgbClr val="3F162C"/>
                </a:solidFill>
                <a:latin typeface="Aptos"/>
              </a:defRPr>
            </a:pPr>
            <a:r>
              <a:t>Open with one curiosity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127248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3F162C"/>
                </a:solidFill>
                <a:latin typeface="Aptos"/>
              </a:defRPr>
            </a:pPr>
            <a:r>
              <a:t>Key Points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685032"/>
            <a:ext cx="118872" cy="118872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630168"/>
            <a:ext cx="48463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644352"/>
                </a:solidFill>
                <a:latin typeface="Aptos"/>
              </a:defRPr>
            </a:pPr>
            <a:r>
              <a:t>Name the core idea in simple language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4142232"/>
            <a:ext cx="118872" cy="118872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87368"/>
            <a:ext cx="48463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644352"/>
                </a:solidFill>
                <a:latin typeface="Aptos"/>
              </a:defRPr>
            </a:pPr>
            <a:r>
              <a:t>Show why it matters beyond the textbook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" y="4599432"/>
            <a:ext cx="118872" cy="118872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8463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644352"/>
                </a:solidFill>
                <a:latin typeface="Aptos"/>
              </a:defRPr>
            </a:pPr>
            <a:r>
              <a:t>Preview what students will be able to 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47472"/>
            <a:ext cx="1005840" cy="310896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97764"/>
            <a:ext cx="822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474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>
                <a:solidFill>
                  <a:srgbClr val="64435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809244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200" b="1">
                <a:solidFill>
                  <a:srgbClr val="3F162C"/>
                </a:solidFill>
                <a:latin typeface="Aptos"/>
              </a:defRPr>
            </a:pPr>
            <a:r>
              <a:t>Make The Core Idea Visible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6840" y="768096"/>
            <a:ext cx="1508760" cy="310896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98280" y="818388"/>
            <a:ext cx="13258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UNDERSTAND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47088"/>
            <a:ext cx="4023360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12848"/>
            <a:ext cx="3310128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300" b="1">
                <a:solidFill>
                  <a:srgbClr val="3F162C"/>
                </a:solidFill>
                <a:latin typeface="Aptos"/>
              </a:defRPr>
            </a:pPr>
            <a:r>
              <a:t>Teach one key idea per slide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22191"/>
            <a:ext cx="329184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0">
                <a:solidFill>
                  <a:srgbClr val="644352"/>
                </a:solidFill>
                <a:latin typeface="Aptos"/>
              </a:defRPr>
            </a:pPr>
            <a:r>
              <a:t>Explain a concept with a visual anchor.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" y="4864608"/>
            <a:ext cx="1115568" cy="73152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37760" y="1847088"/>
            <a:ext cx="6629400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76672" y="2221992"/>
            <a:ext cx="56235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3F162C"/>
                </a:solidFill>
                <a:latin typeface="Aptos"/>
              </a:defRPr>
            </a:pPr>
            <a:r>
              <a:t>What students should notice</a:t>
            </a:r>
          </a:p>
        </p:txBody>
      </p:sp>
      <p:sp>
        <p:nvSpPr>
          <p:cNvPr id="14" name="Oval 13"/>
          <p:cNvSpPr/>
          <p:nvPr/>
        </p:nvSpPr>
        <p:spPr>
          <a:xfrm>
            <a:off x="5376672" y="2779776"/>
            <a:ext cx="118872" cy="118872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32704" y="2724912"/>
            <a:ext cx="53492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644352"/>
                </a:solidFill>
                <a:latin typeface="Aptos"/>
              </a:defRPr>
            </a:pPr>
            <a:r>
              <a:t>Pair the idea with an example or analogy</a:t>
            </a:r>
          </a:p>
        </p:txBody>
      </p:sp>
      <p:sp>
        <p:nvSpPr>
          <p:cNvPr id="16" name="Oval 15"/>
          <p:cNvSpPr/>
          <p:nvPr/>
        </p:nvSpPr>
        <p:spPr>
          <a:xfrm>
            <a:off x="5376672" y="3236976"/>
            <a:ext cx="118872" cy="118872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32704" y="3182112"/>
            <a:ext cx="53492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644352"/>
                </a:solidFill>
                <a:latin typeface="Aptos"/>
              </a:defRPr>
            </a:pPr>
            <a:r>
              <a:t>Call out one misconception early</a:t>
            </a:r>
          </a:p>
        </p:txBody>
      </p:sp>
      <p:sp>
        <p:nvSpPr>
          <p:cNvPr id="18" name="Oval 17"/>
          <p:cNvSpPr/>
          <p:nvPr/>
        </p:nvSpPr>
        <p:spPr>
          <a:xfrm>
            <a:off x="5376672" y="3694176"/>
            <a:ext cx="118872" cy="118872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32704" y="3639312"/>
            <a:ext cx="53492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644352"/>
                </a:solidFill>
                <a:latin typeface="Aptos"/>
              </a:defRPr>
            </a:pPr>
            <a:r>
              <a:t>End with a quick check question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47472"/>
            <a:ext cx="1005840" cy="310896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97764"/>
            <a:ext cx="822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474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>
                <a:solidFill>
                  <a:srgbClr val="64435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809244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>
                <a:solidFill>
                  <a:srgbClr val="3F162C"/>
                </a:solidFill>
                <a:latin typeface="Aptos"/>
              </a:defRPr>
            </a:pPr>
            <a:r>
              <a:t>Practice With Feedback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6840" y="768096"/>
            <a:ext cx="1508760" cy="310896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98280" y="818388"/>
            <a:ext cx="13258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APPLY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64208"/>
            <a:ext cx="10972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56816"/>
            <a:ext cx="1019556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300" b="1">
                <a:solidFill>
                  <a:srgbClr val="3F162C"/>
                </a:solidFill>
                <a:latin typeface="Aptos"/>
              </a:defRPr>
            </a:pPr>
            <a:r>
              <a:t>Question: Which option best explains the idea?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401568"/>
            <a:ext cx="5193792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767328"/>
            <a:ext cx="44348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3F162C"/>
                </a:solidFill>
                <a:latin typeface="Aptos"/>
              </a:defRPr>
            </a:pPr>
            <a:r>
              <a:t>Work Time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4325112"/>
            <a:ext cx="118872" cy="118872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270248"/>
            <a:ext cx="4160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644352"/>
                </a:solidFill>
                <a:latin typeface="Aptos"/>
              </a:defRPr>
            </a:pPr>
            <a:r>
              <a:t>B) A cause-and-effect relationship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4782312"/>
            <a:ext cx="118872" cy="118872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727448"/>
            <a:ext cx="4160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644352"/>
                </a:solidFill>
                <a:latin typeface="Aptos"/>
              </a:defRPr>
            </a:pPr>
            <a:r>
              <a:t>C) An unrelated example</a:t>
            </a:r>
          </a:p>
        </p:txBody>
      </p:sp>
      <p:sp>
        <p:nvSpPr>
          <p:cNvPr id="16" name="Oval 15"/>
          <p:cNvSpPr/>
          <p:nvPr/>
        </p:nvSpPr>
        <p:spPr>
          <a:xfrm>
            <a:off x="932688" y="5239512"/>
            <a:ext cx="118872" cy="118872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5184648"/>
            <a:ext cx="4160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644352"/>
                </a:solidFill>
                <a:latin typeface="Aptos"/>
              </a:defRPr>
            </a:pPr>
            <a:r>
              <a:t>D) A memorized definition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71616" y="3401568"/>
            <a:ext cx="5468112" cy="2651760"/>
          </a:xfrm>
          <a:prstGeom prst="roundRect">
            <a:avLst/>
          </a:prstGeom>
          <a:solidFill>
            <a:srgbClr val="FF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7376" y="3767328"/>
            <a:ext cx="46634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3F162C"/>
                </a:solidFill>
                <a:latin typeface="Aptos"/>
              </a:defRPr>
            </a:pPr>
            <a:r>
              <a:t>Teacher Key</a:t>
            </a:r>
          </a:p>
        </p:txBody>
      </p:sp>
      <p:sp>
        <p:nvSpPr>
          <p:cNvPr id="20" name="Oval 19"/>
          <p:cNvSpPr/>
          <p:nvPr/>
        </p:nvSpPr>
        <p:spPr>
          <a:xfrm>
            <a:off x="6437376" y="4325112"/>
            <a:ext cx="118872" cy="118872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93408" y="4270248"/>
            <a:ext cx="43891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644352"/>
                </a:solidFill>
                <a:latin typeface="Aptos"/>
              </a:defRPr>
            </a:pPr>
            <a:r>
              <a:t>Answer: B</a:t>
            </a:r>
          </a:p>
        </p:txBody>
      </p:sp>
      <p:sp>
        <p:nvSpPr>
          <p:cNvPr id="22" name="Oval 21"/>
          <p:cNvSpPr/>
          <p:nvPr/>
        </p:nvSpPr>
        <p:spPr>
          <a:xfrm>
            <a:off x="6437376" y="4782312"/>
            <a:ext cx="118872" cy="118872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93408" y="4727448"/>
            <a:ext cx="43891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644352"/>
                </a:solidFill>
                <a:latin typeface="Aptos"/>
              </a:defRPr>
            </a:pPr>
            <a:r>
              <a:t>Explanation: Students should identify the relationship, not just recall words.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47472"/>
            <a:ext cx="1005840" cy="310896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97764"/>
            <a:ext cx="822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474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>
                <a:solidFill>
                  <a:srgbClr val="64435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809244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200" b="1">
                <a:solidFill>
                  <a:srgbClr val="3F162C"/>
                </a:solidFill>
                <a:latin typeface="Aptos"/>
              </a:defRPr>
            </a:pPr>
            <a:r>
              <a:t>Close With Transfer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6840" y="768096"/>
            <a:ext cx="1508760" cy="310896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98280" y="818388"/>
            <a:ext cx="13258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CREATE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47088"/>
            <a:ext cx="3364992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77824" y="2157984"/>
            <a:ext cx="1280160" cy="310896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208276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REMEMBER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596896"/>
            <a:ext cx="27432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3F162C"/>
                </a:solidFill>
                <a:latin typeface="Aptos"/>
              </a:defRPr>
            </a:pPr>
          </a:p>
        </p:txBody>
      </p:sp>
      <p:sp>
        <p:nvSpPr>
          <p:cNvPr id="12" name="Oval 11"/>
          <p:cNvSpPr/>
          <p:nvPr/>
        </p:nvSpPr>
        <p:spPr>
          <a:xfrm>
            <a:off x="877824" y="3154680"/>
            <a:ext cx="118872" cy="118872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3099816"/>
            <a:ext cx="2468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644352"/>
                </a:solidFill>
                <a:latin typeface="Aptos"/>
              </a:defRPr>
            </a:pPr>
            <a:r>
              <a:t>Students can define the key idea</a:t>
            </a:r>
          </a:p>
        </p:txBody>
      </p:sp>
      <p:sp>
        <p:nvSpPr>
          <p:cNvPr id="14" name="Oval 13"/>
          <p:cNvSpPr/>
          <p:nvPr/>
        </p:nvSpPr>
        <p:spPr>
          <a:xfrm>
            <a:off x="877824" y="3611880"/>
            <a:ext cx="118872" cy="118872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3557016"/>
            <a:ext cx="2468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644352"/>
                </a:solidFill>
                <a:latin typeface="Aptos"/>
              </a:defRPr>
            </a:pPr>
            <a:r>
              <a:t>Students can apply it to a new scenario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1847088"/>
            <a:ext cx="3364992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54296" y="2157984"/>
            <a:ext cx="1280160" cy="310896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45736" y="2208276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CONNECT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54296" y="2596896"/>
            <a:ext cx="27432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3F162C"/>
                </a:solidFill>
                <a:latin typeface="Aptos"/>
              </a:defRPr>
            </a:pPr>
          </a:p>
        </p:txBody>
      </p:sp>
      <p:sp>
        <p:nvSpPr>
          <p:cNvPr id="20" name="Oval 19"/>
          <p:cNvSpPr/>
          <p:nvPr/>
        </p:nvSpPr>
        <p:spPr>
          <a:xfrm>
            <a:off x="4654296" y="3154680"/>
            <a:ext cx="118872" cy="118872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10328" y="3099816"/>
            <a:ext cx="2468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644352"/>
                </a:solidFill>
                <a:latin typeface="Aptos"/>
              </a:defRPr>
            </a:pPr>
            <a:r>
              <a:t>Students can explain it with an example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1" y="1847088"/>
            <a:ext cx="3364992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30767" y="2157984"/>
            <a:ext cx="1280160" cy="310896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22207" y="2208276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APPLY NEXT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0767" y="2596896"/>
            <a:ext cx="27432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3F162C"/>
                </a:solidFill>
                <a:latin typeface="Aptos"/>
              </a:defRPr>
            </a:pPr>
          </a:p>
        </p:txBody>
      </p:sp>
      <p:sp>
        <p:nvSpPr>
          <p:cNvPr id="26" name="Oval 25"/>
          <p:cNvSpPr/>
          <p:nvPr/>
        </p:nvSpPr>
        <p:spPr>
          <a:xfrm>
            <a:off x="8430767" y="3154680"/>
            <a:ext cx="118872" cy="118872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799" y="3099816"/>
            <a:ext cx="2468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644352"/>
                </a:solidFill>
                <a:latin typeface="Aptos"/>
              </a:defRPr>
            </a:pPr>
            <a:r>
              <a:t>Students can avoid the common misconception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713232"/>
            <a:ext cx="10771632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1325880"/>
            <a:ext cx="576072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800" b="1">
                <a:solidFill>
                  <a:srgbClr val="3F162C"/>
                </a:solidFill>
                <a:latin typeface="Aptos"/>
              </a:defRPr>
            </a:pPr>
            <a:r>
              <a:t>Ready for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121408"/>
            <a:ext cx="6400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0">
                <a:solidFill>
                  <a:srgbClr val="644352"/>
                </a:solidFill>
                <a:latin typeface="Aptos"/>
              </a:defRPr>
            </a:pPr>
            <a:r>
              <a:t>Use the notes, activities, and visual prompts to adapt the lesson live.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035808"/>
            <a:ext cx="49377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3F162C"/>
                </a:solidFill>
                <a:latin typeface="Aptos"/>
              </a:defRPr>
            </a:pPr>
            <a:r>
              <a:t>Quick Finish</a:t>
            </a:r>
          </a:p>
        </p:txBody>
      </p:sp>
      <p:sp>
        <p:nvSpPr>
          <p:cNvPr id="6" name="Oval 5"/>
          <p:cNvSpPr/>
          <p:nvPr/>
        </p:nvSpPr>
        <p:spPr>
          <a:xfrm>
            <a:off x="1143000" y="3593592"/>
            <a:ext cx="118872" cy="118872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99032" y="3538728"/>
            <a:ext cx="46634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644352"/>
                </a:solidFill>
                <a:latin typeface="Aptos"/>
              </a:defRPr>
            </a:pPr>
            <a:r>
              <a:t>Ask one retrieval question</a:t>
            </a:r>
          </a:p>
        </p:txBody>
      </p:sp>
      <p:sp>
        <p:nvSpPr>
          <p:cNvPr id="8" name="Oval 7"/>
          <p:cNvSpPr/>
          <p:nvPr/>
        </p:nvSpPr>
        <p:spPr>
          <a:xfrm>
            <a:off x="1143000" y="4050792"/>
            <a:ext cx="118872" cy="118872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99032" y="3995928"/>
            <a:ext cx="46634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644352"/>
                </a:solidFill>
                <a:latin typeface="Aptos"/>
              </a:defRPr>
            </a:pPr>
            <a:r>
              <a:t>Let students explain one visual</a:t>
            </a:r>
          </a:p>
        </p:txBody>
      </p:sp>
      <p:sp>
        <p:nvSpPr>
          <p:cNvPr id="10" name="Oval 9"/>
          <p:cNvSpPr/>
          <p:nvPr/>
        </p:nvSpPr>
        <p:spPr>
          <a:xfrm>
            <a:off x="1143000" y="4507992"/>
            <a:ext cx="118872" cy="118872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99032" y="4453128"/>
            <a:ext cx="46634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644352"/>
                </a:solidFill>
                <a:latin typeface="Aptos"/>
              </a:defRPr>
            </a:pPr>
            <a:r>
              <a:t>Collect one exit-ticket response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1408176"/>
            <a:ext cx="2377440" cy="237744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1847088"/>
            <a:ext cx="1828800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2816352"/>
            <a:ext cx="1828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slides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