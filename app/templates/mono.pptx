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set purpose and activate prior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slide concise and put the extra explanation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answer first, then reveal the teacher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an exit-ticket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06640" y="658368"/>
            <a:ext cx="4160520" cy="553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1005840" cy="310896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708660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MONOGRAPH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56692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>
                <a:solidFill>
                  <a:srgbClr val="111111"/>
                </a:solidFill>
                <a:latin typeface="Aptos"/>
              </a:defRPr>
            </a:pPr>
            <a:r>
              <a:t>Monograph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16352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Aptos"/>
              </a:defRPr>
            </a:pPr>
            <a:r>
              <a:t>Grade 10 | Template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5394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Aptos"/>
              </a:defRPr>
            </a:pPr>
            <a:r>
              <a:t>A classroom-ready deck with guided explanation, practice, and checks for understanding.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234440"/>
            <a:ext cx="3429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ptos"/>
              </a:defRPr>
            </a:pPr>
            <a:r>
              <a:t>Learning Targets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792224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Preview the title, concept, practice, and summary layouts.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7492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Aptos"/>
              </a:defRPr>
            </a:pPr>
            <a:r>
              <a:t>4 lesson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468112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Aptos"/>
              </a:defRPr>
            </a:pPr>
            <a:r>
              <a:t>Built for teaching, discussion, and revision.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B55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ptos"/>
              </a:defRPr>
            </a:pPr>
            <a:r>
              <a:t>Start With A Strong 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074920" cy="4919472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3504" y="1682496"/>
            <a:ext cx="534924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Aptos"/>
              </a:defRPr>
            </a:pPr>
            <a:r>
              <a:t>Open with one curiosity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2724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85032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Name the core idea in simple language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42232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873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Show why it matters beyond the textbook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599432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Preview what students will be able to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B55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Aptos"/>
              </a:defRPr>
            </a:pPr>
            <a:r>
              <a:t>Make The Core Idea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402336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33101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111111"/>
                </a:solidFill>
                <a:latin typeface="Aptos"/>
              </a:defRPr>
            </a:pPr>
            <a:r>
              <a:t>Teach one key idea per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32918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Aptos"/>
              </a:defRPr>
            </a:pPr>
            <a:r>
              <a:t>Explain a concept with a visual anchor.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864608"/>
            <a:ext cx="1115568" cy="7315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1847088"/>
            <a:ext cx="66294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221992"/>
            <a:ext cx="5623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ptos"/>
              </a:defRPr>
            </a:pPr>
            <a:r>
              <a:t>What students should notice</a:t>
            </a:r>
          </a:p>
        </p:txBody>
      </p:sp>
      <p:sp>
        <p:nvSpPr>
          <p:cNvPr id="14" name="Oval 13"/>
          <p:cNvSpPr/>
          <p:nvPr/>
        </p:nvSpPr>
        <p:spPr>
          <a:xfrm>
            <a:off x="5376672" y="2779776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27249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Pair the idea with an example or analogy</a:t>
            </a:r>
          </a:p>
        </p:txBody>
      </p:sp>
      <p:sp>
        <p:nvSpPr>
          <p:cNvPr id="16" name="Oval 15"/>
          <p:cNvSpPr/>
          <p:nvPr/>
        </p:nvSpPr>
        <p:spPr>
          <a:xfrm>
            <a:off x="5376672" y="3236976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2704" y="31821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Call out one misconception early</a:t>
            </a:r>
          </a:p>
        </p:txBody>
      </p:sp>
      <p:sp>
        <p:nvSpPr>
          <p:cNvPr id="18" name="Oval 17"/>
          <p:cNvSpPr/>
          <p:nvPr/>
        </p:nvSpPr>
        <p:spPr>
          <a:xfrm>
            <a:off x="5376672" y="3694176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2704" y="36393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End with a quick check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B55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ptos"/>
              </a:defRPr>
            </a:pPr>
            <a:r>
              <a:t>Practice With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101955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111111"/>
                </a:solidFill>
                <a:latin typeface="Aptos"/>
              </a:defRPr>
            </a:pPr>
            <a:r>
              <a:t>Question: Which option best explains the idea?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01568"/>
            <a:ext cx="519379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ptos"/>
              </a:defRPr>
            </a:pPr>
            <a:r>
              <a:t>Work Time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325112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702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B) A cause-and-effect relationship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782312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274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C) An unrelated example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239512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846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D) A memorized definition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3401568"/>
            <a:ext cx="5468112" cy="265176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76732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ptos"/>
              </a:defRPr>
            </a:pPr>
            <a:r>
              <a:t>Teacher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6437376" y="4325112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2702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Answer: B</a:t>
            </a:r>
          </a:p>
        </p:txBody>
      </p:sp>
      <p:sp>
        <p:nvSpPr>
          <p:cNvPr id="22" name="Oval 21"/>
          <p:cNvSpPr/>
          <p:nvPr/>
        </p:nvSpPr>
        <p:spPr>
          <a:xfrm>
            <a:off x="6437376" y="4782312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7274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Explanation: Students should identify the relationship, not just recall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B55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Aptos"/>
              </a:defRPr>
            </a:pPr>
            <a:r>
              <a:t>Close With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157984"/>
            <a:ext cx="1280160" cy="310896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ptos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877824" y="3154680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Students can define the key idea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611880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570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Students can apply it to a new scenario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54296" y="2157984"/>
            <a:ext cx="128016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ptos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4654296" y="3154680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Students can explain it with an example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0767" y="2157984"/>
            <a:ext cx="1280160" cy="310896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7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ptos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8430767" y="3154680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Students can avoid the common misconception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713232"/>
            <a:ext cx="1077163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1325880"/>
            <a:ext cx="57607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>
                <a:solidFill>
                  <a:srgbClr val="111111"/>
                </a:solidFill>
                <a:latin typeface="Aptos"/>
              </a:defRPr>
            </a:pPr>
            <a:r>
              <a:t>Ready for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121408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Aptos"/>
              </a:defRPr>
            </a:pPr>
            <a:r>
              <a:t>Use the notes, activities, and visual prompts to adapt the lesson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35808"/>
            <a:ext cx="4937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ptos"/>
              </a:defRPr>
            </a:pPr>
            <a:r>
              <a:t>Quick Finish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593592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35387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Ask one retrieval question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50792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39959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Let students explain one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4507992"/>
            <a:ext cx="118872" cy="118872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4453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Collect one exit-ticket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08176"/>
            <a:ext cx="2377440" cy="237744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47088"/>
            <a:ext cx="18288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81635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